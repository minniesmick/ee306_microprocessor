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7CCC-807D-97E2-B38C-46443CE432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1B41E-E952-F811-B50D-9D43D7F216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C8691-D260-94B2-D30D-928D42455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337E3-62CB-4445-8D44-9493044D44C1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A40C3-1A9B-D181-B6EB-9F7A1133B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07DED-7DB7-7FFD-76AA-BD0F71E1C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FAD0-6ED4-4E8E-BB1F-C09ADE9D1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758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81F28-872D-0974-03E8-A9595D9C4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8166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A4CB0-DC76-3FC7-4EDD-FAB3FCB8A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4887"/>
            <a:ext cx="12192000" cy="541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25345-6E4A-C15D-0970-0D94249CA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337E3-62CB-4445-8D44-9493044D44C1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82E2A-1AB4-5BDB-6EF7-D4E680D7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BE060-BFFE-F778-5BD3-062E996F8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FAD0-6ED4-4E8E-BB1F-C09ADE9D1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9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804BB-C3A8-975E-D925-BAF4082DA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6EE32-23BD-ECA5-27CC-FEFDFACD2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F86E1-06E5-A991-7AAF-CC260C05B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337E3-62CB-4445-8D44-9493044D44C1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910EF-6787-B6E8-54D3-72C57E86B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74E59-7926-EA0B-CAE8-8BDB81DC5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FAD0-6ED4-4E8E-BB1F-C09ADE9D1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63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453D0-6C8F-CD80-9C41-6F55FE20F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E76D4-1ADA-81A6-FB6A-AD2F173551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B701B-271C-7425-CA26-F0B2C5245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8D3729-DC96-E0D5-6BDB-27D9E3BC0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337E3-62CB-4445-8D44-9493044D44C1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3924B-B89F-56C2-3357-F0F661685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03DF4-9064-1553-5861-01ED5E5DD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FAD0-6ED4-4E8E-BB1F-C09ADE9D1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42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08CEA-5EED-6FCB-7912-57745674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8357C-DCB1-CBCF-9E92-DA6E60B62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982BFD-B182-F1B2-9C69-F45E69906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BABA4A-5B4E-357E-6D8D-2A7412AE75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0FFAC0-761B-F00D-A3A6-7738C18890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24D370-0561-E1D4-5AD5-ADF28EBEA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337E3-62CB-4445-8D44-9493044D44C1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098CAB-F833-7C94-06E2-B7D92ED7A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1D5888-774A-ED66-507D-F2C976FB6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FAD0-6ED4-4E8E-BB1F-C09ADE9D1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20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EF015-3204-2706-2900-2679CF7B4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AA4FD5-23C2-4BCB-ED83-526170AFE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337E3-62CB-4445-8D44-9493044D44C1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04B3C1-BC35-9242-9BBF-D9658CCE1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D24FD4-2C83-1E04-AE51-81D2DC383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FAD0-6ED4-4E8E-BB1F-C09ADE9D1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445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289BA6-5BBF-9846-3B3E-AB75FED47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337E3-62CB-4445-8D44-9493044D44C1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7DF9F-7944-EAF8-4C55-37150F87F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23C3E-07F0-010C-12A8-2A98C8225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FAD0-6ED4-4E8E-BB1F-C09ADE9D1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433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68FF8-EC50-C5B8-19D7-C174CD2D8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04D20-D36E-9045-2121-271FC0BC9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7DBEF4-B58D-8811-CE24-EF6F19A06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8CE06-B180-5E8F-9110-27C7B43F1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337E3-62CB-4445-8D44-9493044D44C1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21265-4A7B-13FF-C2BB-B615607DA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7A1B5-D217-B295-E207-41FBABF1D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FAD0-6ED4-4E8E-BB1F-C09ADE9D1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58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72AD0-6FD3-FC6B-11CC-34C77E023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118232-1532-84AD-67F4-3212CBF05E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F88485-24A3-82CA-E824-BB456BCF9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9D870-63E6-9E68-5981-44B866F3C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337E3-62CB-4445-8D44-9493044D44C1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0524E-CF31-FB19-1D72-2F504841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6E930-6ED7-1DB1-1E03-51D8AAF0D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FAD0-6ED4-4E8E-BB1F-C09ADE9D1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183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F7DD1-F9D1-3C2A-B07C-B96352E03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04BE6-8CF8-FDE9-BA09-50AB2D71E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4AA9E-21EE-9B31-D0BB-639DFEAA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337E3-62CB-4445-8D44-9493044D44C1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94313-7FC8-112F-85B1-4FE33FBBA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2C81E-4A89-461D-0035-8A0A785ED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FAD0-6ED4-4E8E-BB1F-C09ADE9D1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941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781155-9E8A-928D-7646-D8998517AF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8B9EC7-64A1-41A7-7F19-719484E5E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E0C54-E534-109B-55F1-E4D159494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337E3-62CB-4445-8D44-9493044D44C1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80190-13BD-8AC7-9174-3A4FD72C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0A5C0-1DF6-FC9F-A14F-E1FB3CD49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FAD0-6ED4-4E8E-BB1F-C09ADE9D1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00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213166-B8BB-E0EA-AC51-5803FE5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3EB7F-D26C-3A4E-931A-DC71909BF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5EE33-9735-CB74-AF37-626B8DC17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9337E3-62CB-4445-8D44-9493044D44C1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BC47D-ACB6-87EA-61B1-159EF9FC1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7A033-076A-EF29-8C4A-688B799843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30FAD0-6ED4-4E8E-BB1F-C09ADE9D1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61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425FC-2067-C157-F82E-C12BA68696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3 Quiz Solution Guide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813FC1-363F-A7D5-87C0-424231FE86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EE 306 Microprocessors</a:t>
            </a:r>
          </a:p>
        </p:txBody>
      </p:sp>
    </p:spTree>
    <p:extLst>
      <p:ext uri="{BB962C8B-B14F-4D97-AF65-F5344CB8AC3E}">
        <p14:creationId xmlns:p14="http://schemas.microsoft.com/office/powerpoint/2010/main" val="833175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198D-5CD0-1BF2-6AB1-B8E932E48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1048544"/>
          </a:xfrm>
        </p:spPr>
        <p:txBody>
          <a:bodyPr>
            <a:normAutofit fontScale="90000"/>
          </a:bodyPr>
          <a:lstStyle/>
          <a:p>
            <a:r>
              <a:rPr lang="en-US" dirty="0"/>
              <a:t>Addressing modes</a:t>
            </a:r>
            <a:br>
              <a:rPr lang="en-US" dirty="0"/>
            </a:br>
            <a:r>
              <a:rPr lang="en-US" sz="4000" dirty="0"/>
              <a:t>EA: Effective Address, Rb: Base address pointer, Rd: Destination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5A303-383D-1718-8E09-EABCF5570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8057"/>
            <a:ext cx="12192000" cy="4923655"/>
          </a:xfrm>
        </p:spPr>
        <p:txBody>
          <a:bodyPr/>
          <a:lstStyle/>
          <a:p>
            <a:pPr marL="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STR Rd, [Rb, index]   </a:t>
            </a:r>
            <a:r>
              <a:rPr lang="en-US" sz="2600" dirty="0">
                <a:latin typeface="+mj-lt"/>
                <a:cs typeface="Courier New" panose="02070309020205020404" pitchFamily="49" charset="0"/>
              </a:rPr>
              <a:t>EA=[Rb] + index      Rb is NOT updated.</a:t>
            </a:r>
          </a:p>
          <a:p>
            <a:pPr marL="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STR Rd, [Rb, index]!  </a:t>
            </a:r>
            <a:r>
              <a:rPr lang="en-US" sz="2600" dirty="0">
                <a:latin typeface="+mj-lt"/>
                <a:cs typeface="Courier New" panose="02070309020205020404" pitchFamily="49" charset="0"/>
              </a:rPr>
              <a:t>EA=[Rb] + index      Rb becomes Rb + index.</a:t>
            </a:r>
          </a:p>
          <a:p>
            <a:pPr marL="0" indent="0">
              <a:buNone/>
            </a:pPr>
            <a:r>
              <a:rPr lang="en-US" dirty="0">
                <a:latin typeface="+mj-lt"/>
                <a:cs typeface="Courier New" panose="02070309020205020404" pitchFamily="49" charset="0"/>
              </a:rPr>
              <a:t>Example: Let R0 content be 128 and R1 be 64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 Rd, [R0, 100]    </a:t>
            </a:r>
            <a:r>
              <a:rPr lang="en-US" sz="2800" dirty="0">
                <a:latin typeface="+mj-lt"/>
                <a:cs typeface="Courier New" panose="02070309020205020404" pitchFamily="49" charset="0"/>
              </a:rPr>
              <a:t>EA=128 + 100 = 228   R0 is still 128. 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 Rd, [R0, R1]    </a:t>
            </a:r>
            <a:r>
              <a:rPr lang="en-US" sz="2800" dirty="0">
                <a:latin typeface="+mj-lt"/>
                <a:cs typeface="Courier New" panose="02070309020205020404" pitchFamily="49" charset="0"/>
              </a:rPr>
              <a:t>EA=128+64  = 192   R0 is still 128.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        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 Rd, [R0, 100]!  </a:t>
            </a:r>
            <a:r>
              <a:rPr lang="en-US" sz="2800" dirty="0">
                <a:latin typeface="+mj-lt"/>
                <a:cs typeface="Courier New" panose="02070309020205020404" pitchFamily="49" charset="0"/>
              </a:rPr>
              <a:t>EA=128+100  = 228   R0 becomes 228.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  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 Rd, [R0, R1]!   </a:t>
            </a:r>
            <a:r>
              <a:rPr lang="en-US" sz="2800" dirty="0">
                <a:latin typeface="+mj-lt"/>
                <a:cs typeface="Courier New" panose="02070309020205020404" pitchFamily="49" charset="0"/>
              </a:rPr>
              <a:t>EA=128+64  = 192   R0 becomes 192.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 Rd, [R0, R1, LSL #1]   </a:t>
            </a:r>
            <a:r>
              <a:rPr lang="en-US" sz="2800" dirty="0">
                <a:latin typeface="+mj-lt"/>
                <a:cs typeface="Courier New" panose="02070309020205020404" pitchFamily="49" charset="0"/>
              </a:rPr>
              <a:t>EA=128+64*2  = 256.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         </a:t>
            </a:r>
            <a:r>
              <a:rPr lang="en-US" sz="28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               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 Rd, [R0, R1, LSR #1]   </a:t>
            </a:r>
            <a:r>
              <a:rPr lang="en-US" sz="2800" dirty="0">
                <a:latin typeface="+mj-lt"/>
                <a:cs typeface="Courier New" panose="02070309020205020404" pitchFamily="49" charset="0"/>
              </a:rPr>
              <a:t>EA=128+64/2  = 160.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60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2916F-7EDB-C3F0-E52F-2301F5CA8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BE1D5-456E-27CA-3014-A4C749659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1048544"/>
          </a:xfrm>
        </p:spPr>
        <p:txBody>
          <a:bodyPr>
            <a:normAutofit fontScale="90000"/>
          </a:bodyPr>
          <a:lstStyle/>
          <a:p>
            <a:r>
              <a:rPr lang="en-US" dirty="0"/>
              <a:t>Addressing modes</a:t>
            </a:r>
            <a:br>
              <a:rPr lang="en-US" dirty="0"/>
            </a:br>
            <a:r>
              <a:rPr lang="en-US" sz="4000" dirty="0"/>
              <a:t>EA: Effective Address, Rb: Base address pointer, Rd: Destination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2FB89-EB81-F553-AB4E-FB5F2E1C4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8057"/>
            <a:ext cx="12192000" cy="4923655"/>
          </a:xfrm>
        </p:spPr>
        <p:txBody>
          <a:bodyPr/>
          <a:lstStyle/>
          <a:p>
            <a:pPr marL="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STR Rd, [Rb], index   </a:t>
            </a:r>
            <a:r>
              <a:rPr lang="en-US" sz="2600" dirty="0">
                <a:latin typeface="+mj-lt"/>
                <a:cs typeface="Courier New" panose="02070309020205020404" pitchFamily="49" charset="0"/>
              </a:rPr>
              <a:t>EA=[Rb]        Rb becomes Rb + index.</a:t>
            </a:r>
          </a:p>
          <a:p>
            <a:pPr marL="0" indent="0">
              <a:buNone/>
            </a:pPr>
            <a:r>
              <a:rPr lang="en-US" dirty="0">
                <a:latin typeface="+mj-lt"/>
                <a:cs typeface="Courier New" panose="02070309020205020404" pitchFamily="49" charset="0"/>
              </a:rPr>
              <a:t>Example: Let R0 content be 128 and R1 be 64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 Rd, [R0], 100   </a:t>
            </a:r>
            <a:r>
              <a:rPr lang="en-US" sz="2800" dirty="0">
                <a:latin typeface="+mj-lt"/>
                <a:cs typeface="Courier New" panose="02070309020205020404" pitchFamily="49" charset="0"/>
              </a:rPr>
              <a:t>EA=128    R0 becomes 228. 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 Rd, [R0], R1    </a:t>
            </a:r>
            <a:r>
              <a:rPr lang="en-US" sz="2800" dirty="0">
                <a:latin typeface="+mj-lt"/>
                <a:cs typeface="Courier New" panose="02070309020205020404" pitchFamily="49" charset="0"/>
              </a:rPr>
              <a:t>EA=128   R0 becomes  = 192 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 Rd, [R0], R1, LSL #1 </a:t>
            </a:r>
            <a:r>
              <a:rPr lang="en-US" sz="2800" dirty="0">
                <a:latin typeface="+mj-lt"/>
                <a:cs typeface="Courier New" panose="02070309020205020404" pitchFamily="49" charset="0"/>
              </a:rPr>
              <a:t>EA=128   R0 becomes 256.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         </a:t>
            </a:r>
            <a:r>
              <a:rPr lang="en-US" sz="28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               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 Rd, [R0], R1, LSR #1 </a:t>
            </a:r>
            <a:r>
              <a:rPr lang="en-US" sz="2800" dirty="0">
                <a:latin typeface="+mj-lt"/>
                <a:cs typeface="Courier New" panose="02070309020205020404" pitchFamily="49" charset="0"/>
              </a:rPr>
              <a:t>EA=128   R0 becomes 160.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250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6216C-253E-EEFD-2D2B-F75A0CF0D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485324-D2C0-06C3-D9CE-9386FB45FB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6570035"/>
              </p:ext>
            </p:extLst>
          </p:nvPr>
        </p:nvGraphicFramePr>
        <p:xfrm>
          <a:off x="478970" y="1118054"/>
          <a:ext cx="36467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839">
                  <a:extLst>
                    <a:ext uri="{9D8B030D-6E8A-4147-A177-3AD203B41FA5}">
                      <a16:colId xmlns:a16="http://schemas.microsoft.com/office/drawing/2014/main" val="2712953054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3286114489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400918813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370668619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283963432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421597664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2734128385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8579351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46375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AA9C3FE-12D5-3508-70E3-A590FE626885}"/>
              </a:ext>
            </a:extLst>
          </p:cNvPr>
          <p:cNvSpPr txBox="1"/>
          <p:nvPr/>
        </p:nvSpPr>
        <p:spPr>
          <a:xfrm>
            <a:off x="5573486" y="1108676"/>
            <a:ext cx="6200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bits make one hexadecimal character. </a:t>
            </a:r>
          </a:p>
          <a:p>
            <a:r>
              <a:rPr lang="en-US" dirty="0"/>
              <a:t>Rotating by 4 bits mean rotating one hexadecimal character.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BDB110-C224-0115-E90C-0E6B434ED4EE}"/>
              </a:ext>
            </a:extLst>
          </p:cNvPr>
          <p:cNvSpPr txBox="1"/>
          <p:nvPr/>
        </p:nvSpPr>
        <p:spPr>
          <a:xfrm>
            <a:off x="5562600" y="1838019"/>
            <a:ext cx="60588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Rotate to right by 4 bits:</a:t>
            </a:r>
          </a:p>
          <a:p>
            <a:r>
              <a:rPr lang="en-US" dirty="0"/>
              <a:t>Shift everything towards right then bring the rightmost 4 bits</a:t>
            </a:r>
          </a:p>
          <a:p>
            <a:r>
              <a:rPr lang="en-US" dirty="0"/>
              <a:t>back to the leftmost side. 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56446BA0-6663-4C8C-42B5-9660C0D2FA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7009025"/>
              </p:ext>
            </p:extLst>
          </p:nvPr>
        </p:nvGraphicFramePr>
        <p:xfrm>
          <a:off x="914396" y="1858280"/>
          <a:ext cx="36467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839">
                  <a:extLst>
                    <a:ext uri="{9D8B030D-6E8A-4147-A177-3AD203B41FA5}">
                      <a16:colId xmlns:a16="http://schemas.microsoft.com/office/drawing/2014/main" val="2712953054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3286114489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400918813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370668619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283963432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421597664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2734128385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8579351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463757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C76FA3D9-F463-44C5-C565-328072AEBF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0085228"/>
              </p:ext>
            </p:extLst>
          </p:nvPr>
        </p:nvGraphicFramePr>
        <p:xfrm>
          <a:off x="478970" y="2262568"/>
          <a:ext cx="45583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839">
                  <a:extLst>
                    <a:ext uri="{9D8B030D-6E8A-4147-A177-3AD203B41FA5}">
                      <a16:colId xmlns:a16="http://schemas.microsoft.com/office/drawing/2014/main" val="8579351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463757"/>
                  </a:ext>
                </a:extLst>
              </a:tr>
            </a:tbl>
          </a:graphicData>
        </a:graphic>
      </p:graphicFrame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7130B8D4-D06C-8313-DF7A-14F8F17D2F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5135758"/>
              </p:ext>
            </p:extLst>
          </p:nvPr>
        </p:nvGraphicFramePr>
        <p:xfrm>
          <a:off x="478970" y="2666856"/>
          <a:ext cx="3646712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55839">
                  <a:extLst>
                    <a:ext uri="{9D8B030D-6E8A-4147-A177-3AD203B41FA5}">
                      <a16:colId xmlns:a16="http://schemas.microsoft.com/office/drawing/2014/main" val="2712953054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3286114489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400918813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370668619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283963432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421597664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2734128385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8579351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463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1394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59C44-F77D-0A12-09AF-EC97AD541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91585-7FA7-8B4E-BA9B-2CD5B3F53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8335F7E-D8EA-4F3C-1D9B-F2FF9688CFE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78970" y="1118054"/>
          <a:ext cx="36467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839">
                  <a:extLst>
                    <a:ext uri="{9D8B030D-6E8A-4147-A177-3AD203B41FA5}">
                      <a16:colId xmlns:a16="http://schemas.microsoft.com/office/drawing/2014/main" val="2712953054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3286114489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400918813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370668619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283963432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421597664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2734128385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8579351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46375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5238D1A-911C-2D52-2103-95FAEA95C8DE}"/>
              </a:ext>
            </a:extLst>
          </p:cNvPr>
          <p:cNvSpPr txBox="1"/>
          <p:nvPr/>
        </p:nvSpPr>
        <p:spPr>
          <a:xfrm>
            <a:off x="5562600" y="330140"/>
            <a:ext cx="41233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Logic shift means fill all gaps with zeros </a:t>
            </a:r>
          </a:p>
          <a:p>
            <a:r>
              <a:rPr lang="en-US" dirty="0"/>
              <a:t>Arithmetic shift copies the sign.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7C3F5E-E43A-F9A3-C524-20DAFA62008E}"/>
              </a:ext>
            </a:extLst>
          </p:cNvPr>
          <p:cNvSpPr txBox="1"/>
          <p:nvPr/>
        </p:nvSpPr>
        <p:spPr>
          <a:xfrm>
            <a:off x="5562600" y="1838019"/>
            <a:ext cx="54525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Shit the number towards right by 4 bits</a:t>
            </a:r>
          </a:p>
          <a:p>
            <a:r>
              <a:rPr lang="en-US" dirty="0"/>
              <a:t>What is the sign of this number? 0xF = 0b1111. It is 1. </a:t>
            </a:r>
          </a:p>
          <a:p>
            <a:r>
              <a:rPr lang="en-US" dirty="0"/>
              <a:t>So, fill with ones. 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DA51D41B-8E73-D582-0BB1-0ED1CDD3247A}"/>
              </a:ext>
            </a:extLst>
          </p:cNvPr>
          <p:cNvGraphicFramePr>
            <a:graphicFrameLocks/>
          </p:cNvGraphicFramePr>
          <p:nvPr/>
        </p:nvGraphicFramePr>
        <p:xfrm>
          <a:off x="914396" y="1858280"/>
          <a:ext cx="36467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839">
                  <a:extLst>
                    <a:ext uri="{9D8B030D-6E8A-4147-A177-3AD203B41FA5}">
                      <a16:colId xmlns:a16="http://schemas.microsoft.com/office/drawing/2014/main" val="2712953054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3286114489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400918813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370668619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283963432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421597664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2734128385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8579351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463757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091E329E-7AD2-BEB3-3D54-25CB041789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9207686"/>
              </p:ext>
            </p:extLst>
          </p:nvPr>
        </p:nvGraphicFramePr>
        <p:xfrm>
          <a:off x="478970" y="2262568"/>
          <a:ext cx="45583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839">
                  <a:extLst>
                    <a:ext uri="{9D8B030D-6E8A-4147-A177-3AD203B41FA5}">
                      <a16:colId xmlns:a16="http://schemas.microsoft.com/office/drawing/2014/main" val="8579351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463757"/>
                  </a:ext>
                </a:extLst>
              </a:tr>
            </a:tbl>
          </a:graphicData>
        </a:graphic>
      </p:graphicFrame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51EDD520-A567-F3FF-974E-889C83C589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3878583"/>
              </p:ext>
            </p:extLst>
          </p:nvPr>
        </p:nvGraphicFramePr>
        <p:xfrm>
          <a:off x="478970" y="2666856"/>
          <a:ext cx="3646712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55839">
                  <a:extLst>
                    <a:ext uri="{9D8B030D-6E8A-4147-A177-3AD203B41FA5}">
                      <a16:colId xmlns:a16="http://schemas.microsoft.com/office/drawing/2014/main" val="2712953054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3286114489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400918813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370668619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283963432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421597664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2734128385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8579351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46375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4A385AF-B2E1-B5E0-64FA-34309018B04A}"/>
              </a:ext>
            </a:extLst>
          </p:cNvPr>
          <p:cNvSpPr txBox="1"/>
          <p:nvPr/>
        </p:nvSpPr>
        <p:spPr>
          <a:xfrm>
            <a:off x="5562600" y="1039221"/>
            <a:ext cx="31918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ASR R2, R1, #4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01081F02-3756-D0C2-4175-348A18BDAB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0471570"/>
              </p:ext>
            </p:extLst>
          </p:nvPr>
        </p:nvGraphicFramePr>
        <p:xfrm>
          <a:off x="631370" y="3426516"/>
          <a:ext cx="36467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839">
                  <a:extLst>
                    <a:ext uri="{9D8B030D-6E8A-4147-A177-3AD203B41FA5}">
                      <a16:colId xmlns:a16="http://schemas.microsoft.com/office/drawing/2014/main" val="2712953054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3286114489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400918813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370668619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283963432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421597664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2734128385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8579351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46375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4B600AC-AE75-468D-36FC-AA16E48B789B}"/>
              </a:ext>
            </a:extLst>
          </p:cNvPr>
          <p:cNvSpPr txBox="1"/>
          <p:nvPr/>
        </p:nvSpPr>
        <p:spPr>
          <a:xfrm>
            <a:off x="5715000" y="4146481"/>
            <a:ext cx="3976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Shit the number towards right by 4 bits</a:t>
            </a:r>
          </a:p>
          <a:p>
            <a:r>
              <a:rPr lang="en-US" dirty="0"/>
              <a:t>So, fill with zeros. </a:t>
            </a:r>
          </a:p>
        </p:txBody>
      </p:sp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E78197E4-7EB6-6E44-9DB4-36C8F64F37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2373074"/>
              </p:ext>
            </p:extLst>
          </p:nvPr>
        </p:nvGraphicFramePr>
        <p:xfrm>
          <a:off x="1066796" y="4166742"/>
          <a:ext cx="36467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839">
                  <a:extLst>
                    <a:ext uri="{9D8B030D-6E8A-4147-A177-3AD203B41FA5}">
                      <a16:colId xmlns:a16="http://schemas.microsoft.com/office/drawing/2014/main" val="2712953054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3286114489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400918813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370668619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283963432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421597664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2734128385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8579351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463757"/>
                  </a:ext>
                </a:extLst>
              </a:tr>
            </a:tbl>
          </a:graphicData>
        </a:graphic>
      </p:graphicFrame>
      <p:graphicFrame>
        <p:nvGraphicFramePr>
          <p:cNvPr id="13" name="Content Placeholder 3">
            <a:extLst>
              <a:ext uri="{FF2B5EF4-FFF2-40B4-BE49-F238E27FC236}">
                <a16:creationId xmlns:a16="http://schemas.microsoft.com/office/drawing/2014/main" id="{13AEC508-118A-3141-40C5-7005A65BE0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8906138"/>
              </p:ext>
            </p:extLst>
          </p:nvPr>
        </p:nvGraphicFramePr>
        <p:xfrm>
          <a:off x="631370" y="4571030"/>
          <a:ext cx="45583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839">
                  <a:extLst>
                    <a:ext uri="{9D8B030D-6E8A-4147-A177-3AD203B41FA5}">
                      <a16:colId xmlns:a16="http://schemas.microsoft.com/office/drawing/2014/main" val="8579351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463757"/>
                  </a:ext>
                </a:extLst>
              </a:tr>
            </a:tbl>
          </a:graphicData>
        </a:graphic>
      </p:graphicFrame>
      <p:graphicFrame>
        <p:nvGraphicFramePr>
          <p:cNvPr id="14" name="Content Placeholder 3">
            <a:extLst>
              <a:ext uri="{FF2B5EF4-FFF2-40B4-BE49-F238E27FC236}">
                <a16:creationId xmlns:a16="http://schemas.microsoft.com/office/drawing/2014/main" id="{C9B0F825-24EA-D829-2334-7D516A7D03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6969737"/>
              </p:ext>
            </p:extLst>
          </p:nvPr>
        </p:nvGraphicFramePr>
        <p:xfrm>
          <a:off x="631370" y="4975318"/>
          <a:ext cx="3646712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55839">
                  <a:extLst>
                    <a:ext uri="{9D8B030D-6E8A-4147-A177-3AD203B41FA5}">
                      <a16:colId xmlns:a16="http://schemas.microsoft.com/office/drawing/2014/main" val="2712953054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3286114489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400918813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370668619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283963432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4215976648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2734128385"/>
                    </a:ext>
                  </a:extLst>
                </a:gridCol>
                <a:gridCol w="455839">
                  <a:extLst>
                    <a:ext uri="{9D8B030D-6E8A-4147-A177-3AD203B41FA5}">
                      <a16:colId xmlns:a16="http://schemas.microsoft.com/office/drawing/2014/main" val="8579351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46375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0D34D72-B1E1-52A9-5AF4-CC22A14D249C}"/>
              </a:ext>
            </a:extLst>
          </p:cNvPr>
          <p:cNvSpPr txBox="1"/>
          <p:nvPr/>
        </p:nvSpPr>
        <p:spPr>
          <a:xfrm>
            <a:off x="5715000" y="3347683"/>
            <a:ext cx="31918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LSR R2, R1, #4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7517907-90F3-A9AD-E69D-12BB9C736882}"/>
              </a:ext>
            </a:extLst>
          </p:cNvPr>
          <p:cNvCxnSpPr/>
          <p:nvPr/>
        </p:nvCxnSpPr>
        <p:spPr>
          <a:xfrm>
            <a:off x="269507" y="3214655"/>
            <a:ext cx="1142518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805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494</Words>
  <Application>Microsoft Office PowerPoint</Application>
  <PresentationFormat>Widescreen</PresentationFormat>
  <Paragraphs>110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Courier New</vt:lpstr>
      <vt:lpstr>Office Theme</vt:lpstr>
      <vt:lpstr>Lab 3 Quiz Solution Guide</vt:lpstr>
      <vt:lpstr>Addressing modes EA: Effective Address, Rb: Base address pointer, Rd: Destination</vt:lpstr>
      <vt:lpstr>Addressing modes EA: Effective Address, Rb: Base address pointer, Rd: Destination</vt:lpstr>
      <vt:lpstr>Rotate</vt:lpstr>
      <vt:lpstr>Shift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TUBA AYHAN</dc:creator>
  <cp:lastModifiedBy>TUBA AYHAN</cp:lastModifiedBy>
  <cp:revision>5</cp:revision>
  <dcterms:created xsi:type="dcterms:W3CDTF">2025-03-12T08:57:26Z</dcterms:created>
  <dcterms:modified xsi:type="dcterms:W3CDTF">2025-03-12T09:17:53Z</dcterms:modified>
</cp:coreProperties>
</file>